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96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2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8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77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36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63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4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17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73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4943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72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24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3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1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1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763A8D0-C442-4835-8C8A-E5F35CBA355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63046D2-40FB-46D0-A934-818DD93A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407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6906" y="837128"/>
            <a:ext cx="10310445" cy="2349090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Algerian" panose="04020705040A02060702" pitchFamily="82" charset="0"/>
              </a:rPr>
              <a:t>Smart DSS for Pharmacy Inventory and Profit Optimization 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6907" y="3830158"/>
            <a:ext cx="9440034" cy="1049867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/>
              <a:t>Prepared by:</a:t>
            </a:r>
            <a:r>
              <a:rPr lang="en-US" dirty="0" smtClean="0"/>
              <a:t> Farah </a:t>
            </a:r>
            <a:r>
              <a:rPr lang="en-US" dirty="0" err="1" smtClean="0"/>
              <a:t>Hamdan</a:t>
            </a:r>
            <a:r>
              <a:rPr lang="en-US" dirty="0" smtClean="0"/>
              <a:t> &amp; </a:t>
            </a:r>
            <a:r>
              <a:rPr lang="en-US" dirty="0" err="1" smtClean="0"/>
              <a:t>Lujain</a:t>
            </a:r>
            <a:r>
              <a:rPr lang="en-US" dirty="0" smtClean="0"/>
              <a:t> </a:t>
            </a:r>
            <a:r>
              <a:rPr lang="en-US" dirty="0" err="1"/>
              <a:t>A</a:t>
            </a:r>
            <a:r>
              <a:rPr lang="en-US" dirty="0" err="1" smtClean="0"/>
              <a:t>lshibi</a:t>
            </a:r>
            <a:endParaRPr lang="en-US" dirty="0" smtClean="0"/>
          </a:p>
          <a:p>
            <a:r>
              <a:rPr lang="en-US" b="1" dirty="0" smtClean="0"/>
              <a:t>Department:</a:t>
            </a:r>
            <a:r>
              <a:rPr lang="en-US" dirty="0" smtClean="0"/>
              <a:t> Business Intelligence (BI)</a:t>
            </a:r>
          </a:p>
          <a:p>
            <a:r>
              <a:rPr lang="en-US" b="1" dirty="0" smtClean="0"/>
              <a:t>University:</a:t>
            </a:r>
            <a:r>
              <a:rPr lang="en-US" dirty="0" smtClean="0"/>
              <a:t> University of Petra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318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87" y="635358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Slide </a:t>
            </a:r>
            <a:r>
              <a:rPr lang="en-US" sz="3600" dirty="0" smtClean="0">
                <a:latin typeface="Algerian" panose="04020705040A02060702" pitchFamily="82" charset="0"/>
              </a:rPr>
              <a:t>2</a:t>
            </a:r>
            <a:r>
              <a:rPr lang="en-US" sz="3600" dirty="0" smtClean="0">
                <a:latin typeface="+mn-lt"/>
              </a:rPr>
              <a:t>:</a:t>
            </a:r>
            <a:r>
              <a:rPr lang="ar-JO" sz="3600" dirty="0" smtClean="0">
                <a:latin typeface="+mn-lt"/>
              </a:rPr>
              <a:t> </a:t>
            </a:r>
            <a:r>
              <a:rPr lang="en-US" sz="3600" dirty="0" smtClean="0">
                <a:latin typeface="Algerian" panose="04020705040A02060702" pitchFamily="82" charset="0"/>
              </a:rPr>
              <a:t>PROBLEM </a:t>
            </a:r>
            <a:r>
              <a:rPr lang="en-US" dirty="0" smtClean="0">
                <a:latin typeface="Algerian" panose="04020705040A02060702" pitchFamily="82" charset="0"/>
              </a:rPr>
              <a:t>STATEMENT  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9700" y="2575775"/>
            <a:ext cx="1190369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Financial Loss via Product Expiration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(Overstocking):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Inefficient demand planning causes medications to pile up, freezing pharmacy capital and leading to direct financial waste as products approach their expiry dates.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b="1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Lost Revenue via Sudden Stock</a:t>
            </a:r>
            <a:r>
              <a:rPr kumimoji="0" lang="ar-JO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outs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(Understocking):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Inadequate stock monitoring results in the sudden depletion of critical medications, leading to missed sales opportunities and decreased customer retention.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lang="en-US" sz="1800" b="1" dirty="0" smtClean="0">
              <a:solidFill>
                <a:srgbClr val="00B05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b="1" dirty="0">
              <a:solidFill>
                <a:srgbClr val="00B05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b="1" dirty="0" smtClean="0">
              <a:solidFill>
                <a:srgbClr val="00B05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b="1" dirty="0">
              <a:solidFill>
                <a:srgbClr val="00B05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 smtClean="0">
                <a:solidFill>
                  <a:srgbClr val="00B050"/>
                </a:solidFill>
              </a:rPr>
              <a:t>"</a:t>
            </a:r>
            <a:r>
              <a:rPr lang="en-US" sz="1800" b="1" dirty="0">
                <a:solidFill>
                  <a:srgbClr val="00B050"/>
                </a:solidFill>
              </a:rPr>
              <a:t>The DSS system </a:t>
            </a:r>
            <a:r>
              <a:rPr lang="en-US" sz="1800" b="1" dirty="0" smtClean="0">
                <a:solidFill>
                  <a:srgbClr val="00B050"/>
                </a:solidFill>
              </a:rPr>
              <a:t>was </a:t>
            </a:r>
            <a:r>
              <a:rPr lang="en-US" sz="1800" b="1" dirty="0">
                <a:solidFill>
                  <a:srgbClr val="00B050"/>
                </a:solidFill>
              </a:rPr>
              <a:t>designed to precisely predict and balance these two challenges, ensuring profit optimization and stability."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324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735" y="596720"/>
            <a:ext cx="10353762" cy="97045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 </a:t>
            </a:r>
            <a:r>
              <a:rPr lang="en-US" sz="4400" dirty="0" smtClean="0">
                <a:latin typeface="Algerian" panose="04020705040A02060702" pitchFamily="82" charset="0"/>
              </a:rPr>
              <a:t>slide 3: Project objectives 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2472744"/>
            <a:ext cx="11022858" cy="3318456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Smart DSS:</a:t>
            </a:r>
            <a:r>
              <a:rPr lang="en-US" dirty="0"/>
              <a:t> Developing a system to bridge raw data with strategic decision-making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Profit Optimization:</a:t>
            </a:r>
            <a:r>
              <a:rPr lang="en-US" dirty="0"/>
              <a:t> Maximizing pharmacy revenue and minimizing operational waste.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Proactive Alerts:</a:t>
            </a:r>
            <a:r>
              <a:rPr lang="en-US" dirty="0"/>
              <a:t> Generating dynamic notifications for near-expiry and low-stock items.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3690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65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lgerian" panose="04020705040A02060702" pitchFamily="82" charset="0"/>
              </a:rPr>
              <a:t>Slide 4: System Architecture</a:t>
            </a:r>
            <a:br>
              <a:rPr lang="en-US" dirty="0" smtClean="0">
                <a:latin typeface="Algerian" panose="04020705040A02060702" pitchFamily="82" charset="0"/>
              </a:rPr>
            </a:b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13795" y="1236373"/>
            <a:ext cx="10353762" cy="5267458"/>
          </a:xfrm>
        </p:spPr>
        <p:txBody>
          <a:bodyPr>
            <a:normAutofit/>
          </a:bodyPr>
          <a:lstStyle/>
          <a:p>
            <a:endParaRPr lang="en-US" b="1" dirty="0" smtClean="0"/>
          </a:p>
          <a:p>
            <a:pPr marL="36900" indent="0" algn="ctr">
              <a:buNone/>
            </a:pPr>
            <a:r>
              <a:rPr lang="en-US" dirty="0"/>
              <a:t>Data Source ➔ KNIME (ETL &amp; Models) ➔ Power BI Dashboard</a:t>
            </a:r>
          </a:p>
          <a:p>
            <a:pPr marL="494100" indent="-457200" algn="ctr">
              <a:buAutoNum type="alphaLcPeriod"/>
            </a:pPr>
            <a:endParaRPr lang="en-US" b="1" dirty="0"/>
          </a:p>
          <a:p>
            <a:endParaRPr lang="en-US" b="1" dirty="0"/>
          </a:p>
          <a:p>
            <a:r>
              <a:rPr lang="en-US" b="1" dirty="0" smtClean="0"/>
              <a:t>Data </a:t>
            </a:r>
            <a:r>
              <a:rPr lang="en-US" b="1" dirty="0"/>
              <a:t>source</a:t>
            </a:r>
            <a:r>
              <a:rPr lang="en-US" dirty="0"/>
              <a:t> : Pharmacy transactional logs and historical sales </a:t>
            </a:r>
            <a:r>
              <a:rPr lang="en-US" dirty="0" smtClean="0"/>
              <a:t>datasets.</a:t>
            </a:r>
          </a:p>
          <a:p>
            <a:r>
              <a:rPr lang="en-US" b="1" dirty="0"/>
              <a:t>Data Preprocessing (ETL</a:t>
            </a:r>
            <a:r>
              <a:rPr lang="en-US" b="1" dirty="0" smtClean="0"/>
              <a:t>):</a:t>
            </a:r>
            <a:r>
              <a:rPr lang="en-US" dirty="0" smtClean="0"/>
              <a:t> </a:t>
            </a:r>
            <a:r>
              <a:rPr lang="en-US" dirty="0"/>
              <a:t>Engineered and </a:t>
            </a:r>
            <a:r>
              <a:rPr lang="en-US" dirty="0" smtClean="0"/>
              <a:t>cleaned data  </a:t>
            </a:r>
            <a:r>
              <a:rPr lang="en-US" dirty="0"/>
              <a:t>using </a:t>
            </a:r>
            <a:r>
              <a:rPr lang="en-US" b="1" dirty="0"/>
              <a:t>KNIME</a:t>
            </a:r>
            <a:r>
              <a:rPr lang="en-US" dirty="0"/>
              <a:t> </a:t>
            </a:r>
            <a:r>
              <a:rPr lang="en-US" dirty="0" smtClean="0"/>
              <a:t>platform.</a:t>
            </a:r>
          </a:p>
          <a:p>
            <a:r>
              <a:rPr lang="en-US" b="1" dirty="0"/>
              <a:t>Predictive Model:</a:t>
            </a:r>
            <a:r>
              <a:rPr lang="en-US" dirty="0"/>
              <a:t> </a:t>
            </a:r>
            <a:endParaRPr lang="en-US" dirty="0" smtClean="0"/>
          </a:p>
          <a:p>
            <a:pPr marL="494100" indent="-457200">
              <a:buAutoNum type="alphaLcPeriod"/>
            </a:pPr>
            <a:r>
              <a:rPr lang="en-US" b="1" dirty="0" smtClean="0"/>
              <a:t>advanced clustering : </a:t>
            </a:r>
            <a:r>
              <a:rPr lang="en-US" dirty="0"/>
              <a:t>Segmenting pharmaceutical products using </a:t>
            </a:r>
            <a:r>
              <a:rPr lang="en-US" b="1" dirty="0"/>
              <a:t>K-Means Clustering</a:t>
            </a:r>
            <a:r>
              <a:rPr lang="en-US" dirty="0"/>
              <a:t> based on inventory behavior and sales </a:t>
            </a:r>
            <a:r>
              <a:rPr lang="en-US" dirty="0" smtClean="0"/>
              <a:t>velocity.</a:t>
            </a:r>
          </a:p>
          <a:p>
            <a:pPr marL="494100" indent="-457200">
              <a:buAutoNum type="alphaLcPeriod"/>
            </a:pPr>
            <a:r>
              <a:rPr lang="en-US" b="1" dirty="0" smtClean="0"/>
              <a:t>Time series forecasting : </a:t>
            </a:r>
            <a:r>
              <a:rPr lang="en-US" dirty="0" smtClean="0"/>
              <a:t>applying historical timeline models to predict future medicine demand and stock levels. </a:t>
            </a:r>
          </a:p>
          <a:p>
            <a:pPr marL="494100" indent="-457200">
              <a:buAutoNum type="alphaLcPeriod"/>
            </a:pPr>
            <a:r>
              <a:rPr lang="en-US" dirty="0"/>
              <a:t>Delivering the final predictive outputs into an interactive </a:t>
            </a:r>
            <a:r>
              <a:rPr lang="en-US" b="1" dirty="0"/>
              <a:t>Power BI</a:t>
            </a:r>
            <a:r>
              <a:rPr lang="en-US" dirty="0"/>
              <a:t> </a:t>
            </a:r>
            <a:r>
              <a:rPr lang="en-US" dirty="0" smtClean="0"/>
              <a:t>dashboard.</a:t>
            </a:r>
          </a:p>
          <a:p>
            <a:pPr marL="36900" indent="0">
              <a:buNone/>
            </a:pPr>
            <a:endParaRPr lang="en-US" dirty="0" smtClean="0"/>
          </a:p>
          <a:p>
            <a:pPr marL="494100" indent="-457200">
              <a:buAutoNum type="alphaLcPeriod"/>
            </a:pPr>
            <a:endParaRPr lang="en-US" dirty="0" smtClean="0"/>
          </a:p>
          <a:p>
            <a:pPr marL="494100" indent="-457200">
              <a:buAutoNum type="alphaLcPeriod"/>
            </a:pPr>
            <a:endParaRPr lang="en-US" b="1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Forecasting: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Applying historical timeline models to predict future medicine demand and stock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811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Slide </a:t>
            </a:r>
            <a:r>
              <a:rPr lang="en-US" dirty="0" smtClean="0">
                <a:latin typeface="Algerian" panose="04020705040A02060702" pitchFamily="82" charset="0"/>
              </a:rPr>
              <a:t>5: Data preprocessing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39956" y="2196973"/>
            <a:ext cx="1150143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b="1" dirty="0"/>
              <a:t>Data Preparation</a:t>
            </a:r>
            <a:r>
              <a:rPr lang="en-US" dirty="0"/>
              <a:t>:</a:t>
            </a:r>
            <a:r>
              <a:rPr lang="en-US" altLang="en-US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dirty="0"/>
              <a:t>Transformed raw, scattered data into clean and organized datasets using </a:t>
            </a:r>
            <a:r>
              <a:rPr lang="en-US" b="1" dirty="0"/>
              <a:t>KNIME </a:t>
            </a:r>
            <a:r>
              <a:rPr lang="en-US" b="1" dirty="0" smtClean="0"/>
              <a:t>platform.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Data </a:t>
            </a:r>
            <a:r>
              <a:rPr lang="en-US" b="1" dirty="0"/>
              <a:t>Partitioning</a:t>
            </a:r>
            <a:r>
              <a:rPr lang="en-US" dirty="0" smtClean="0"/>
              <a:t>:</a:t>
            </a:r>
            <a:r>
              <a:rPr lang="en-US" b="1" dirty="0"/>
              <a:t>:</a:t>
            </a:r>
            <a:r>
              <a:rPr lang="en-US" dirty="0"/>
              <a:t> Split data (</a:t>
            </a:r>
            <a:r>
              <a:rPr lang="en-US" b="1" dirty="0"/>
              <a:t>80% Training / 20% Testing</a:t>
            </a:r>
            <a:r>
              <a:rPr lang="en-US" dirty="0"/>
              <a:t>) to train and evaluate the predictive models</a:t>
            </a:r>
            <a:r>
              <a:rPr lang="en-US" dirty="0" smtClean="0"/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b="1" dirty="0"/>
              <a:t>Advanced Analytics:</a:t>
            </a:r>
            <a:r>
              <a:rPr lang="en-US" dirty="0"/>
              <a:t> Applied clustering &amp; time-series forecasting algorithms, evaluating their accuracy</a:t>
            </a:r>
            <a:r>
              <a:rPr lang="en-US" dirty="0" smtClean="0"/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b="1" dirty="0"/>
              <a:t>Business Value:</a:t>
            </a:r>
            <a:r>
              <a:rPr lang="en-US" dirty="0"/>
              <a:t> Ensuring that upcoming managerial decisions in </a:t>
            </a:r>
            <a:r>
              <a:rPr lang="en-US" b="1" dirty="0"/>
              <a:t>Power BI</a:t>
            </a:r>
            <a:r>
              <a:rPr lang="en-US" dirty="0"/>
              <a:t> are built on a sound and smart analytical </a:t>
            </a:r>
            <a:r>
              <a:rPr lang="en-US" dirty="0" smtClean="0"/>
              <a:t>model. </a:t>
            </a:r>
            <a:endParaRPr kumimoji="0" lang="en-US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Partitioning: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Split data (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80% Training / 20% Testing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to train and evaluate the predictive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284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Slide 6: Dashboard &amp; Rendering (Power BI)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304" y="1580050"/>
            <a:ext cx="10984222" cy="4323008"/>
          </a:xfrm>
        </p:spPr>
        <p:txBody>
          <a:bodyPr/>
          <a:lstStyle/>
          <a:p>
            <a:r>
              <a:rPr lang="en-US" dirty="0" smtClean="0"/>
              <a:t>Core dashboard component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Stock Depletion &amp; Trends:</a:t>
            </a:r>
            <a:r>
              <a:rPr lang="en-US" dirty="0"/>
              <a:t> Real-time tracking of inventory turnover and sales </a:t>
            </a:r>
            <a:r>
              <a:rPr lang="en-US" dirty="0" smtClean="0"/>
              <a:t>velocity.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ABC Analysis Visuals:</a:t>
            </a:r>
            <a:r>
              <a:rPr lang="en-US" dirty="0"/>
              <a:t> Categorizing drugs into High, Medium, and Low value for priority management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Near-Expiry Alerts:</a:t>
            </a:r>
            <a:r>
              <a:rPr lang="en-US" dirty="0"/>
              <a:t> Conditional formatting to highlight medications nearing </a:t>
            </a:r>
            <a:r>
              <a:rPr lang="en-US" dirty="0" smtClean="0"/>
              <a:t>expiration.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Actionable Insights:</a:t>
            </a:r>
            <a:r>
              <a:rPr lang="en-US" dirty="0"/>
              <a:t> Translating complex, predictive data into proactive, visual alerts to optimize pharmacy profits and reduce waste.</a:t>
            </a:r>
          </a:p>
          <a:p>
            <a:pPr marL="36900" indent="0">
              <a:buNone/>
            </a:pPr>
            <a:endParaRPr lang="en-US" dirty="0" smtClean="0"/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70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Slide 7: Future 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JO" b="1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mtClean="0"/>
              <a:t>Web- Based </a:t>
            </a:r>
            <a:r>
              <a:rPr lang="en-US" dirty="0" smtClean="0"/>
              <a:t>DSS  Dashboard: migrating the interactive dashboard in to a secure cloud web service for remote managerial access.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Live </a:t>
            </a:r>
            <a:r>
              <a:rPr lang="en-US" dirty="0"/>
              <a:t>POS integration: Connecting the model directly with pharmacy POS networks for real-time alerts</a:t>
            </a:r>
            <a:r>
              <a:rPr lang="en-US" dirty="0" smtClean="0"/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Commercial data </a:t>
            </a:r>
            <a:r>
              <a:rPr lang="en-US" dirty="0"/>
              <a:t>product: Scaling the project into a market-ready business </a:t>
            </a:r>
            <a:r>
              <a:rPr lang="en-US" dirty="0" smtClean="0"/>
              <a:t>solution.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DSS Dashboard: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Migrating the interactive dashboard into a secure cloud web service for remote managerial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" y="-1707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31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Slide </a:t>
            </a:r>
            <a:r>
              <a:rPr lang="en-US" dirty="0" smtClean="0">
                <a:latin typeface="Algerian" panose="04020705040A02060702" pitchFamily="82" charset="0"/>
              </a:rPr>
              <a:t>8: </a:t>
            </a:r>
            <a:r>
              <a:rPr lang="en-US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Strategic Impact</a:t>
            </a:r>
            <a:r>
              <a:rPr lang="en-US" dirty="0"/>
              <a:t>: proved </a:t>
            </a:r>
            <a:r>
              <a:rPr lang="en-US" dirty="0" smtClean="0"/>
              <a:t>how BI and machine learning solve critical healthcare retail problems.</a:t>
            </a:r>
          </a:p>
          <a:p>
            <a:r>
              <a:rPr lang="en-US" b="1" dirty="0" smtClean="0"/>
              <a:t> Final </a:t>
            </a:r>
            <a:r>
              <a:rPr lang="en-US" b="1" dirty="0"/>
              <a:t>V</a:t>
            </a:r>
            <a:r>
              <a:rPr lang="en-US" b="1" dirty="0" smtClean="0"/>
              <a:t>alue: </a:t>
            </a:r>
            <a:r>
              <a:rPr lang="en-US" dirty="0" smtClean="0"/>
              <a:t>Successfully </a:t>
            </a:r>
            <a:r>
              <a:rPr lang="en-US" dirty="0"/>
              <a:t>minimized product expiration waste, prevented </a:t>
            </a:r>
            <a:r>
              <a:rPr lang="en-US" dirty="0" smtClean="0"/>
              <a:t>stock outs</a:t>
            </a:r>
            <a:r>
              <a:rPr lang="en-US" dirty="0"/>
              <a:t>, and stabilized net profit.</a:t>
            </a:r>
          </a:p>
        </p:txBody>
      </p:sp>
    </p:spTree>
    <p:extLst>
      <p:ext uri="{BB962C8B-B14F-4D97-AF65-F5344CB8AC3E}">
        <p14:creationId xmlns:p14="http://schemas.microsoft.com/office/powerpoint/2010/main" val="20100871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132</TotalTime>
  <Words>560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Algerian</vt:lpstr>
      <vt:lpstr>Arial</vt:lpstr>
      <vt:lpstr>Calisto MT</vt:lpstr>
      <vt:lpstr>Trebuchet MS</vt:lpstr>
      <vt:lpstr>Wingdings</vt:lpstr>
      <vt:lpstr>Wingdings 2</vt:lpstr>
      <vt:lpstr>Slate</vt:lpstr>
      <vt:lpstr>Smart DSS for Pharmacy Inventory and Profit Optimization </vt:lpstr>
      <vt:lpstr>Slide 2: PROBLEM STATEMENT  </vt:lpstr>
      <vt:lpstr> slide 3: Project objectives </vt:lpstr>
      <vt:lpstr>Slide 4: System Architecture </vt:lpstr>
      <vt:lpstr>Slide 5: Data preprocessing</vt:lpstr>
      <vt:lpstr>Slide 6: Dashboard &amp; Rendering (Power BI)</vt:lpstr>
      <vt:lpstr>Slide 7: Future Work</vt:lpstr>
      <vt:lpstr>Slide 8: 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DSS for Pharmacy Inventory and Profit Optimization</dc:title>
  <dc:creator>Microsoft account</dc:creator>
  <cp:lastModifiedBy>Microsoft account</cp:lastModifiedBy>
  <cp:revision>17</cp:revision>
  <dcterms:created xsi:type="dcterms:W3CDTF">2026-06-02T17:16:16Z</dcterms:created>
  <dcterms:modified xsi:type="dcterms:W3CDTF">2026-06-02T19:28:52Z</dcterms:modified>
</cp:coreProperties>
</file>